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Abhaya Libre Bold" charset="1" panose="02000803000000000000"/>
      <p:regular r:id="rId35"/>
    </p:embeddedFont>
    <p:embeddedFont>
      <p:font typeface="Poppins" charset="1" panose="00000500000000000000"/>
      <p:regular r:id="rId36"/>
    </p:embeddedFont>
    <p:embeddedFont>
      <p:font typeface="Abhaya Libre Italics" charset="1" panose="02000503000000000000"/>
      <p:regular r:id="rId37"/>
    </p:embeddedFont>
    <p:embeddedFont>
      <p:font typeface="Abhaya Libre" charset="1" panose="0200050300000000000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notesMasters/notesMaster1.xml" Type="http://schemas.openxmlformats.org/officeDocument/2006/relationships/notesMaster"/><Relationship Id="rId33" Target="theme/theme2.xml" Type="http://schemas.openxmlformats.org/officeDocument/2006/relationships/theme"/><Relationship Id="rId34" Target="notesSlides/notesSlide1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2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3.xml" Type="http://schemas.openxmlformats.org/officeDocument/2006/relationships/notesSlide"/><Relationship Id="rId41" Target="notesSlides/notesSlide4.xml" Type="http://schemas.openxmlformats.org/officeDocument/2006/relationships/notesSlide"/><Relationship Id="rId42" Target="notesSlides/notesSlide5.xml" Type="http://schemas.openxmlformats.org/officeDocument/2006/relationships/notesSlide"/><Relationship Id="rId43" Target="notesSlides/notesSlide6.xml" Type="http://schemas.openxmlformats.org/officeDocument/2006/relationships/notesSlide"/><Relationship Id="rId44" Target="notesSlides/notesSlide7.xml" Type="http://schemas.openxmlformats.org/officeDocument/2006/relationships/notesSlide"/><Relationship Id="rId45" Target="notesSlides/notesSlide8.xml" Type="http://schemas.openxmlformats.org/officeDocument/2006/relationships/notesSlide"/><Relationship Id="rId46" Target="notesSlides/notesSlide9.xml" Type="http://schemas.openxmlformats.org/officeDocument/2006/relationships/notesSlide"/><Relationship Id="rId47" Target="notesSlides/notesSlide10.xml" Type="http://schemas.openxmlformats.org/officeDocument/2006/relationships/notesSlide"/><Relationship Id="rId48" Target="notesSlides/notesSlide11.xml" Type="http://schemas.openxmlformats.org/officeDocument/2006/relationships/notesSlide"/><Relationship Id="rId49" Target="notesSlides/notesSlide12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3.xml" Type="http://schemas.openxmlformats.org/officeDocument/2006/relationships/notesSlide"/><Relationship Id="rId51" Target="notesSlides/notesSlide14.xml" Type="http://schemas.openxmlformats.org/officeDocument/2006/relationships/notesSlide"/><Relationship Id="rId52" Target="notesSlides/notesSlide15.xml" Type="http://schemas.openxmlformats.org/officeDocument/2006/relationships/notesSlide"/><Relationship Id="rId53" Target="notesSlides/notesSlide16.xml" Type="http://schemas.openxmlformats.org/officeDocument/2006/relationships/notesSlide"/><Relationship Id="rId54" Target="notesSlides/notesSlide17.xml" Type="http://schemas.openxmlformats.org/officeDocument/2006/relationships/notesSlide"/><Relationship Id="rId55" Target="notesSlides/notesSlide18.xml" Type="http://schemas.openxmlformats.org/officeDocument/2006/relationships/notesSlide"/><Relationship Id="rId56" Target="notesSlides/notesSlide19.xml" Type="http://schemas.openxmlformats.org/officeDocument/2006/relationships/notesSlide"/><Relationship Id="rId57" Target="notesSlides/notesSlide20.xml" Type="http://schemas.openxmlformats.org/officeDocument/2006/relationships/notesSlide"/><Relationship Id="rId58" Target="notesSlides/notesSlide21.xml" Type="http://schemas.openxmlformats.org/officeDocument/2006/relationships/notesSlide"/><Relationship Id="rId59" Target="notesSlides/notesSlide22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3.xml" Type="http://schemas.openxmlformats.org/officeDocument/2006/relationships/notesSlide"/><Relationship Id="rId61" Target="notesSlides/notesSlide24.xml" Type="http://schemas.openxmlformats.org/officeDocument/2006/relationships/notesSlide"/><Relationship Id="rId62" Target="notesSlides/notesSlide25.xml" Type="http://schemas.openxmlformats.org/officeDocument/2006/relationships/notesSlide"/><Relationship Id="rId63" Target="notesSlides/notesSlide26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notesSlides/notesSlide16.xml" Type="http://schemas.openxmlformats.org/officeDocument/2006/relationships/notesSlid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34.png" Type="http://schemas.openxmlformats.org/officeDocument/2006/relationships/image"/><Relationship Id="rId4" Target="../media/image3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svg" Type="http://schemas.openxmlformats.org/officeDocument/2006/relationships/image"/><Relationship Id="rId8" Target="../media/image41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51.png" Type="http://schemas.openxmlformats.org/officeDocument/2006/relationships/image"/><Relationship Id="rId4" Target="../media/image5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22675" y="2568147"/>
            <a:ext cx="9311491" cy="3076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11"/>
              </a:lnSpc>
            </a:pPr>
            <a:r>
              <a:rPr lang="en-US" b="true" sz="122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ShopUp - Bazar Online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84600" y="7775265"/>
            <a:ext cx="8274167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Alunos: Jonathan Borges, João Ribeiro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Professor: Bruno Leonor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94472" y="5303012"/>
            <a:ext cx="7631503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Projeto Interdisciplinar</a:t>
            </a:r>
          </a:p>
        </p:txBody>
      </p:sp>
      <p:sp>
        <p:nvSpPr>
          <p:cNvPr name="AutoShape 7" id="7"/>
          <p:cNvSpPr/>
          <p:nvPr/>
        </p:nvSpPr>
        <p:spPr>
          <a:xfrm>
            <a:off x="8658969" y="3315612"/>
            <a:ext cx="3207283" cy="0"/>
          </a:xfrm>
          <a:prstGeom prst="line">
            <a:avLst/>
          </a:prstGeom>
          <a:ln cap="rnd" w="57150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429581" y="1942499"/>
            <a:ext cx="2360173" cy="2993877"/>
          </a:xfrm>
          <a:custGeom>
            <a:avLst/>
            <a:gdLst/>
            <a:ahLst/>
            <a:cxnLst/>
            <a:rect r="r" b="b" t="t" l="l"/>
            <a:pathLst>
              <a:path h="2993877" w="2360173">
                <a:moveTo>
                  <a:pt x="0" y="0"/>
                </a:moveTo>
                <a:lnTo>
                  <a:pt x="2360173" y="0"/>
                </a:lnTo>
                <a:lnTo>
                  <a:pt x="2360173" y="2993876"/>
                </a:lnTo>
                <a:lnTo>
                  <a:pt x="0" y="2993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64864" y="6277908"/>
            <a:ext cx="5602944" cy="289604"/>
            <a:chOff x="0" y="0"/>
            <a:chExt cx="7470592" cy="3861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0649" cy="386080"/>
            </a:xfrm>
            <a:custGeom>
              <a:avLst/>
              <a:gdLst/>
              <a:ahLst/>
              <a:cxnLst/>
              <a:rect r="r" b="b" t="t" l="l"/>
              <a:pathLst>
                <a:path h="386080" w="7470649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55400" y="4455640"/>
            <a:ext cx="9804730" cy="2460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7"/>
              </a:lnSpc>
            </a:pPr>
            <a:r>
              <a:rPr lang="en-US" sz="12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Problemas e C</a:t>
            </a:r>
            <a:r>
              <a:rPr lang="en-US" sz="12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ontexto</a:t>
            </a:r>
          </a:p>
        </p:txBody>
      </p:sp>
      <p:grpSp>
        <p:nvGrpSpPr>
          <p:cNvPr name="Group 7" id="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369725" y="539975"/>
            <a:ext cx="3442350" cy="350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07775" y="7280026"/>
            <a:ext cx="574695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Desafi</a:t>
            </a: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 enfrentados pelos bazares tradicionais</a:t>
            </a:r>
          </a:p>
        </p:txBody>
      </p:sp>
      <p:sp>
        <p:nvSpPr>
          <p:cNvPr name="AutoShape 11" id="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cap="rnd" w="57150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912400" y="1374798"/>
            <a:ext cx="2082600" cy="2082000"/>
            <a:chOff x="0" y="0"/>
            <a:chExt cx="2776800" cy="277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76855" cy="2776220"/>
            </a:xfrm>
            <a:custGeom>
              <a:avLst/>
              <a:gdLst/>
              <a:ahLst/>
              <a:cxnLst/>
              <a:rect r="r" b="b" t="t" l="l"/>
              <a:pathLst>
                <a:path h="2776220" w="2776855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387472" y="1766780"/>
            <a:ext cx="1127671" cy="1298042"/>
          </a:xfrm>
          <a:custGeom>
            <a:avLst/>
            <a:gdLst/>
            <a:ahLst/>
            <a:cxnLst/>
            <a:rect r="r" b="b" t="t" l="l"/>
            <a:pathLst>
              <a:path h="1298042" w="1127671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48633">
            <a:off x="2222736" y="5218650"/>
            <a:ext cx="5436024" cy="5434834"/>
            <a:chOff x="0" y="0"/>
            <a:chExt cx="7248032" cy="72464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name="AutoShape 6" id="6"/>
          <p:cNvSpPr/>
          <p:nvPr/>
        </p:nvSpPr>
        <p:spPr>
          <a:xfrm rot="147060">
            <a:off x="9629685" y="2790075"/>
            <a:ext cx="1781830" cy="0"/>
          </a:xfrm>
          <a:prstGeom prst="line">
            <a:avLst/>
          </a:prstGeom>
          <a:ln cap="rnd" w="28575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814626" y="2092998"/>
            <a:ext cx="2082600" cy="2082000"/>
            <a:chOff x="0" y="0"/>
            <a:chExt cx="2776800" cy="277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76855" cy="2776220"/>
            </a:xfrm>
            <a:custGeom>
              <a:avLst/>
              <a:gdLst/>
              <a:ahLst/>
              <a:cxnLst/>
              <a:rect r="r" b="b" t="t" l="l"/>
              <a:pathLst>
                <a:path h="2776220" w="2776855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6264074" y="2613688"/>
            <a:ext cx="1184078" cy="1044143"/>
          </a:xfrm>
          <a:custGeom>
            <a:avLst/>
            <a:gdLst/>
            <a:ahLst/>
            <a:cxnLst/>
            <a:rect r="r" b="b" t="t" l="l"/>
            <a:pathLst>
              <a:path h="1044143" w="1184078">
                <a:moveTo>
                  <a:pt x="0" y="0"/>
                </a:moveTo>
                <a:lnTo>
                  <a:pt x="1184078" y="0"/>
                </a:lnTo>
                <a:lnTo>
                  <a:pt x="1184078" y="1044143"/>
                </a:lnTo>
                <a:lnTo>
                  <a:pt x="0" y="10441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478697" y="4548159"/>
            <a:ext cx="8306731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popularização das plataformas digitais tem transformado a 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ve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doação de produt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s. Baz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fí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icos, 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bora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importantes socialmente, enfrentam gestão manual, baixa divulgação e desorganização de estoque, impactando a eficiência e a experiência dos usuários.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78697" y="3167034"/>
            <a:ext cx="573495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Contexto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47060">
            <a:off x="2314485" y="2790075"/>
            <a:ext cx="1781830" cy="0"/>
          </a:xfrm>
          <a:prstGeom prst="line">
            <a:avLst/>
          </a:prstGeom>
          <a:ln cap="rnd" w="28575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024850" y="1337898"/>
            <a:ext cx="2082600" cy="2082000"/>
            <a:chOff x="0" y="0"/>
            <a:chExt cx="2776800" cy="277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76855" cy="2776220"/>
            </a:xfrm>
            <a:custGeom>
              <a:avLst/>
              <a:gdLst/>
              <a:ahLst/>
              <a:cxnLst/>
              <a:rect r="r" b="b" t="t" l="l"/>
              <a:pathLst>
                <a:path h="2776220" w="2776855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1443728" y="1758014"/>
            <a:ext cx="1247647" cy="1253355"/>
          </a:xfrm>
          <a:custGeom>
            <a:avLst/>
            <a:gdLst/>
            <a:ahLst/>
            <a:cxnLst/>
            <a:rect r="r" b="b" t="t" l="l"/>
            <a:pathLst>
              <a:path h="1253355" w="1247647">
                <a:moveTo>
                  <a:pt x="0" y="0"/>
                </a:moveTo>
                <a:lnTo>
                  <a:pt x="1247647" y="0"/>
                </a:lnTo>
                <a:lnTo>
                  <a:pt x="1247647" y="1253354"/>
                </a:lnTo>
                <a:lnTo>
                  <a:pt x="0" y="12533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53972" y="3167001"/>
            <a:ext cx="5734950" cy="107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Problemas</a:t>
            </a:r>
          </a:p>
        </p:txBody>
      </p:sp>
      <p:grpSp>
        <p:nvGrpSpPr>
          <p:cNvPr name="Group 9" id="9"/>
          <p:cNvGrpSpPr/>
          <p:nvPr/>
        </p:nvGrpSpPr>
        <p:grpSpPr>
          <a:xfrm rot="-448633">
            <a:off x="12963486" y="5034400"/>
            <a:ext cx="5436024" cy="5434834"/>
            <a:chOff x="0" y="0"/>
            <a:chExt cx="7248032" cy="72464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864967" y="4599042"/>
            <a:ext cx="8683401" cy="31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4081" indent="-322040" lvl="1">
              <a:lnSpc>
                <a:spcPts val="3579"/>
              </a:lnSpc>
              <a:buFont typeface="Arial"/>
              <a:buChar char="•"/>
            </a:pPr>
            <a:r>
              <a:rPr lang="en-US" sz="29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</a:t>
            </a:r>
            <a:r>
              <a:rPr lang="en-US" sz="29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manual de produtos</a:t>
            </a:r>
          </a:p>
          <a:p>
            <a:pPr algn="l" marL="644081" indent="-322040" lvl="1">
              <a:lnSpc>
                <a:spcPts val="3579"/>
              </a:lnSpc>
              <a:buFont typeface="Arial"/>
              <a:buChar char="•"/>
            </a:pPr>
            <a:r>
              <a:rPr lang="en-US" sz="29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Falta de controle de estoque e preços</a:t>
            </a:r>
          </a:p>
          <a:p>
            <a:pPr algn="l" marL="644081" indent="-322040" lvl="1">
              <a:lnSpc>
                <a:spcPts val="3579"/>
              </a:lnSpc>
              <a:buFont typeface="Arial"/>
              <a:buChar char="•"/>
            </a:pPr>
            <a:r>
              <a:rPr lang="en-US" sz="29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Divulgação limitada</a:t>
            </a:r>
          </a:p>
          <a:p>
            <a:pPr algn="l" marL="644081" indent="-322040" lvl="1">
              <a:lnSpc>
                <a:spcPts val="3579"/>
              </a:lnSpc>
              <a:buFont typeface="Arial"/>
              <a:buChar char="•"/>
            </a:pPr>
            <a:r>
              <a:rPr lang="en-US" sz="29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Processo de compra complexo</a:t>
            </a:r>
          </a:p>
          <a:p>
            <a:pPr algn="l" marL="644081" indent="-322040" lvl="1">
              <a:lnSpc>
                <a:spcPts val="3579"/>
              </a:lnSpc>
              <a:buFont typeface="Arial"/>
              <a:buChar char="•"/>
            </a:pPr>
            <a:r>
              <a:rPr lang="en-US" sz="29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Rastreabilidade insuficiente</a:t>
            </a:r>
          </a:p>
          <a:p>
            <a:pPr algn="l" marL="644081" indent="-322040" lvl="1">
              <a:lnSpc>
                <a:spcPts val="3579"/>
              </a:lnSpc>
              <a:buFont typeface="Arial"/>
              <a:buChar char="•"/>
            </a:pPr>
            <a:r>
              <a:rPr lang="en-US" sz="29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Dependência de pessoal para operações</a:t>
            </a:r>
          </a:p>
          <a:p>
            <a:pPr algn="l">
              <a:lnSpc>
                <a:spcPts val="35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55400" y="6379335"/>
            <a:ext cx="3236125" cy="167268"/>
            <a:chOff x="0" y="0"/>
            <a:chExt cx="7470592" cy="3861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0649" cy="386080"/>
            </a:xfrm>
            <a:custGeom>
              <a:avLst/>
              <a:gdLst/>
              <a:ahLst/>
              <a:cxnLst/>
              <a:rect r="r" b="b" t="t" l="l"/>
              <a:pathLst>
                <a:path h="386080" w="7470649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55400" y="4455574"/>
            <a:ext cx="9377252" cy="246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7"/>
              </a:lnSpc>
            </a:pPr>
            <a:r>
              <a:rPr lang="en-US" sz="12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Público-Alvo</a:t>
            </a:r>
          </a:p>
        </p:txBody>
      </p:sp>
      <p:grpSp>
        <p:nvGrpSpPr>
          <p:cNvPr name="Group 7" id="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369725" y="515562"/>
            <a:ext cx="4069614" cy="404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55400" y="6973603"/>
            <a:ext cx="574695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Quem</a:t>
            </a: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será beneficiado pela plataforma?</a:t>
            </a:r>
          </a:p>
        </p:txBody>
      </p:sp>
      <p:sp>
        <p:nvSpPr>
          <p:cNvPr name="AutoShape 11" id="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cap="rnd" w="57150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912400" y="1374798"/>
            <a:ext cx="2082600" cy="2082000"/>
            <a:chOff x="0" y="0"/>
            <a:chExt cx="2776800" cy="277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76855" cy="2776220"/>
            </a:xfrm>
            <a:custGeom>
              <a:avLst/>
              <a:gdLst/>
              <a:ahLst/>
              <a:cxnLst/>
              <a:rect r="r" b="b" t="t" l="l"/>
              <a:pathLst>
                <a:path h="2776220" w="2776855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387472" y="1766780"/>
            <a:ext cx="1127671" cy="1298042"/>
          </a:xfrm>
          <a:custGeom>
            <a:avLst/>
            <a:gdLst/>
            <a:ahLst/>
            <a:cxnLst/>
            <a:rect r="r" b="b" t="t" l="l"/>
            <a:pathLst>
              <a:path h="1298042" w="1127671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3020" y="8662406"/>
            <a:ext cx="500490" cy="500490"/>
            <a:chOff x="0" y="0"/>
            <a:chExt cx="667320" cy="667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7258" cy="667385"/>
            </a:xfrm>
            <a:custGeom>
              <a:avLst/>
              <a:gdLst/>
              <a:ahLst/>
              <a:cxnLst/>
              <a:rect r="r" b="b" t="t" l="l"/>
              <a:pathLst>
                <a:path h="667385" w="667258">
                  <a:moveTo>
                    <a:pt x="333629" y="0"/>
                  </a:moveTo>
                  <a:lnTo>
                    <a:pt x="304165" y="129032"/>
                  </a:lnTo>
                  <a:cubicBezTo>
                    <a:pt x="282067" y="215646"/>
                    <a:pt x="215646" y="281940"/>
                    <a:pt x="129032" y="304165"/>
                  </a:cubicBezTo>
                  <a:lnTo>
                    <a:pt x="0" y="333629"/>
                  </a:lnTo>
                  <a:lnTo>
                    <a:pt x="129032" y="364998"/>
                  </a:lnTo>
                  <a:cubicBezTo>
                    <a:pt x="215646" y="385318"/>
                    <a:pt x="282067" y="453517"/>
                    <a:pt x="304165" y="540131"/>
                  </a:cubicBezTo>
                  <a:lnTo>
                    <a:pt x="333629" y="667385"/>
                  </a:lnTo>
                  <a:lnTo>
                    <a:pt x="364998" y="540131"/>
                  </a:lnTo>
                  <a:cubicBezTo>
                    <a:pt x="385318" y="453517"/>
                    <a:pt x="453517" y="385318"/>
                    <a:pt x="540131" y="364998"/>
                  </a:cubicBezTo>
                  <a:lnTo>
                    <a:pt x="667258" y="333629"/>
                  </a:lnTo>
                  <a:lnTo>
                    <a:pt x="540131" y="304165"/>
                  </a:lnTo>
                  <a:cubicBezTo>
                    <a:pt x="453517" y="282067"/>
                    <a:pt x="385318" y="215646"/>
                    <a:pt x="364998" y="129032"/>
                  </a:cubicBezTo>
                  <a:lnTo>
                    <a:pt x="333629" y="0"/>
                  </a:lnTo>
                  <a:close/>
                </a:path>
              </a:pathLst>
            </a:custGeom>
            <a:solidFill>
              <a:srgbClr val="F1EF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name="AutoShape 6" id="6"/>
          <p:cNvSpPr/>
          <p:nvPr/>
        </p:nvSpPr>
        <p:spPr>
          <a:xfrm rot="157789">
            <a:off x="1602525" y="1887825"/>
            <a:ext cx="1660749" cy="0"/>
          </a:xfrm>
          <a:prstGeom prst="line">
            <a:avLst/>
          </a:prstGeom>
          <a:ln cap="rnd" w="28575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849071" y="3978015"/>
            <a:ext cx="16052867" cy="3416331"/>
            <a:chOff x="0" y="0"/>
            <a:chExt cx="21403823" cy="455510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15127297" y="34541"/>
              <a:ext cx="3003595" cy="3002730"/>
              <a:chOff x="0" y="0"/>
              <a:chExt cx="2776800" cy="2776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76855" cy="2776220"/>
              </a:xfrm>
              <a:custGeom>
                <a:avLst/>
                <a:gdLst/>
                <a:ahLst/>
                <a:cxnLst/>
                <a:rect r="r" b="b" t="t" l="l"/>
                <a:pathLst>
                  <a:path h="2776220" w="2776855">
                    <a:moveTo>
                      <a:pt x="0" y="1387983"/>
                    </a:moveTo>
                    <a:lnTo>
                      <a:pt x="265176" y="530225"/>
                    </a:lnTo>
                    <a:lnTo>
                      <a:pt x="959358" y="0"/>
                    </a:lnTo>
                    <a:lnTo>
                      <a:pt x="1817497" y="0"/>
                    </a:lnTo>
                    <a:lnTo>
                      <a:pt x="2511679" y="530225"/>
                    </a:lnTo>
                    <a:lnTo>
                      <a:pt x="2776855" y="1388110"/>
                    </a:lnTo>
                    <a:lnTo>
                      <a:pt x="2511679" y="2245995"/>
                    </a:lnTo>
                    <a:lnTo>
                      <a:pt x="1817497" y="2776220"/>
                    </a:lnTo>
                    <a:lnTo>
                      <a:pt x="959358" y="2776220"/>
                    </a:lnTo>
                    <a:lnTo>
                      <a:pt x="265176" y="2245868"/>
                    </a:lnTo>
                    <a:close/>
                  </a:path>
                </a:pathLst>
              </a:custGeom>
              <a:solidFill>
                <a:srgbClr val="ED7A07"/>
              </a:solid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15825983" y="913086"/>
              <a:ext cx="1562017" cy="1457254"/>
            </a:xfrm>
            <a:custGeom>
              <a:avLst/>
              <a:gdLst/>
              <a:ahLst/>
              <a:cxnLst/>
              <a:rect r="r" b="b" t="t" l="l"/>
              <a:pathLst>
                <a:path h="1457254" w="1562017">
                  <a:moveTo>
                    <a:pt x="0" y="0"/>
                  </a:moveTo>
                  <a:lnTo>
                    <a:pt x="1562017" y="0"/>
                  </a:lnTo>
                  <a:lnTo>
                    <a:pt x="1562017" y="1457253"/>
                  </a:lnTo>
                  <a:lnTo>
                    <a:pt x="0" y="1457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7563649" y="0"/>
              <a:ext cx="3003595" cy="3002730"/>
              <a:chOff x="0" y="0"/>
              <a:chExt cx="2776800" cy="2776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76855" cy="2776220"/>
              </a:xfrm>
              <a:custGeom>
                <a:avLst/>
                <a:gdLst/>
                <a:ahLst/>
                <a:cxnLst/>
                <a:rect r="r" b="b" t="t" l="l"/>
                <a:pathLst>
                  <a:path h="2776220" w="2776855">
                    <a:moveTo>
                      <a:pt x="0" y="1387983"/>
                    </a:moveTo>
                    <a:lnTo>
                      <a:pt x="265176" y="530225"/>
                    </a:lnTo>
                    <a:lnTo>
                      <a:pt x="959358" y="0"/>
                    </a:lnTo>
                    <a:lnTo>
                      <a:pt x="1817497" y="0"/>
                    </a:lnTo>
                    <a:lnTo>
                      <a:pt x="2511679" y="530225"/>
                    </a:lnTo>
                    <a:lnTo>
                      <a:pt x="2776855" y="1388110"/>
                    </a:lnTo>
                    <a:lnTo>
                      <a:pt x="2511679" y="2245995"/>
                    </a:lnTo>
                    <a:lnTo>
                      <a:pt x="1817497" y="2776220"/>
                    </a:lnTo>
                    <a:lnTo>
                      <a:pt x="959358" y="2776220"/>
                    </a:lnTo>
                    <a:lnTo>
                      <a:pt x="265176" y="2245868"/>
                    </a:lnTo>
                    <a:close/>
                  </a:path>
                </a:pathLst>
              </a:custGeom>
              <a:solidFill>
                <a:srgbClr val="ED7A07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8256856" y="760094"/>
              <a:ext cx="1621553" cy="1482508"/>
            </a:xfrm>
            <a:custGeom>
              <a:avLst/>
              <a:gdLst/>
              <a:ahLst/>
              <a:cxnLst/>
              <a:rect r="r" b="b" t="t" l="l"/>
              <a:pathLst>
                <a:path h="1482508" w="1621553">
                  <a:moveTo>
                    <a:pt x="0" y="0"/>
                  </a:moveTo>
                  <a:lnTo>
                    <a:pt x="1621554" y="0"/>
                  </a:lnTo>
                  <a:lnTo>
                    <a:pt x="1621554" y="1482507"/>
                  </a:lnTo>
                  <a:lnTo>
                    <a:pt x="0" y="1482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0" y="17269"/>
              <a:ext cx="3003595" cy="3002730"/>
              <a:chOff x="0" y="0"/>
              <a:chExt cx="2776800" cy="2776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776855" cy="2776220"/>
              </a:xfrm>
              <a:custGeom>
                <a:avLst/>
                <a:gdLst/>
                <a:ahLst/>
                <a:cxnLst/>
                <a:rect r="r" b="b" t="t" l="l"/>
                <a:pathLst>
                  <a:path h="2776220" w="2776855">
                    <a:moveTo>
                      <a:pt x="0" y="1387983"/>
                    </a:moveTo>
                    <a:lnTo>
                      <a:pt x="265176" y="530225"/>
                    </a:lnTo>
                    <a:lnTo>
                      <a:pt x="959358" y="0"/>
                    </a:lnTo>
                    <a:lnTo>
                      <a:pt x="1817497" y="0"/>
                    </a:lnTo>
                    <a:lnTo>
                      <a:pt x="2511679" y="530225"/>
                    </a:lnTo>
                    <a:lnTo>
                      <a:pt x="2776855" y="1388110"/>
                    </a:lnTo>
                    <a:lnTo>
                      <a:pt x="2511679" y="2245995"/>
                    </a:lnTo>
                    <a:lnTo>
                      <a:pt x="1817497" y="2776220"/>
                    </a:lnTo>
                    <a:lnTo>
                      <a:pt x="959358" y="2776220"/>
                    </a:lnTo>
                    <a:lnTo>
                      <a:pt x="265176" y="2245868"/>
                    </a:lnTo>
                    <a:close/>
                  </a:path>
                </a:pathLst>
              </a:custGeom>
              <a:solidFill>
                <a:srgbClr val="ED7A07"/>
              </a:solidFill>
            </p:spPr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698890" y="752760"/>
              <a:ext cx="1610718" cy="1530341"/>
            </a:xfrm>
            <a:custGeom>
              <a:avLst/>
              <a:gdLst/>
              <a:ahLst/>
              <a:cxnLst/>
              <a:rect r="r" b="b" t="t" l="l"/>
              <a:pathLst>
                <a:path h="1530341" w="1610718">
                  <a:moveTo>
                    <a:pt x="0" y="0"/>
                  </a:moveTo>
                  <a:lnTo>
                    <a:pt x="1610718" y="0"/>
                  </a:lnTo>
                  <a:lnTo>
                    <a:pt x="1610718" y="1530341"/>
                  </a:lnTo>
                  <a:lnTo>
                    <a:pt x="0" y="1530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54534" y="3501550"/>
              <a:ext cx="6249702" cy="1053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30"/>
                </a:lnSpc>
              </a:pPr>
              <a:r>
                <a:rPr lang="en-US" b="true" sz="5192">
                  <a:solidFill>
                    <a:srgbClr val="000000"/>
                  </a:solidFill>
                  <a:latin typeface="Abhaya Libre Bold"/>
                  <a:ea typeface="Abhaya Libre Bold"/>
                  <a:cs typeface="Abhaya Libre Bold"/>
                  <a:sym typeface="Abhaya Libre Bold"/>
                </a:rPr>
                <a:t>Compradores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7695539" y="3501550"/>
              <a:ext cx="6249702" cy="1053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30"/>
                </a:lnSpc>
              </a:pPr>
              <a:r>
                <a:rPr lang="en-US" b="true" sz="5192">
                  <a:solidFill>
                    <a:srgbClr val="000000"/>
                  </a:solidFill>
                  <a:latin typeface="Abhaya Libre Bold"/>
                  <a:ea typeface="Abhaya Libre Bold"/>
                  <a:cs typeface="Abhaya Libre Bold"/>
                  <a:sym typeface="Abhaya Libre Bold"/>
                </a:rPr>
                <a:t>Vendedores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5154121" y="3416206"/>
              <a:ext cx="6249702" cy="1053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30"/>
                </a:lnSpc>
              </a:pPr>
              <a:r>
                <a:rPr lang="en-US" b="true" sz="5192">
                  <a:solidFill>
                    <a:srgbClr val="000000"/>
                  </a:solidFill>
                  <a:latin typeface="Abhaya Libre Bold"/>
                  <a:ea typeface="Abhaya Libre Bold"/>
                  <a:cs typeface="Abhaya Libre Bold"/>
                  <a:sym typeface="Abhaya Libre Bold"/>
                </a:rPr>
                <a:t>Administradores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556075" y="1151375"/>
            <a:ext cx="1321395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Público-Alvo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05280" y="6350936"/>
            <a:ext cx="6636224" cy="343012"/>
            <a:chOff x="0" y="0"/>
            <a:chExt cx="7470592" cy="3861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0649" cy="386080"/>
            </a:xfrm>
            <a:custGeom>
              <a:avLst/>
              <a:gdLst/>
              <a:ahLst/>
              <a:cxnLst/>
              <a:rect r="r" b="b" t="t" l="l"/>
              <a:pathLst>
                <a:path h="386080" w="7470649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55400" y="4455574"/>
            <a:ext cx="10532600" cy="246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7"/>
              </a:lnSpc>
            </a:pPr>
            <a:r>
              <a:rPr lang="en-US" sz="12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Engenharia de Requisitos</a:t>
            </a:r>
          </a:p>
        </p:txBody>
      </p:sp>
      <p:grpSp>
        <p:nvGrpSpPr>
          <p:cNvPr name="Group 7" id="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369725" y="515562"/>
            <a:ext cx="4069614" cy="404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55400" y="7193592"/>
            <a:ext cx="574695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Fundamentos que moldaram o sistema</a:t>
            </a:r>
          </a:p>
        </p:txBody>
      </p:sp>
      <p:sp>
        <p:nvSpPr>
          <p:cNvPr name="AutoShape 11" id="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cap="rnd" w="57150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912400" y="1374798"/>
            <a:ext cx="2082600" cy="2082000"/>
            <a:chOff x="0" y="0"/>
            <a:chExt cx="2776800" cy="277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76855" cy="2776220"/>
            </a:xfrm>
            <a:custGeom>
              <a:avLst/>
              <a:gdLst/>
              <a:ahLst/>
              <a:cxnLst/>
              <a:rect r="r" b="b" t="t" l="l"/>
              <a:pathLst>
                <a:path h="2776220" w="2776855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387472" y="1766780"/>
            <a:ext cx="1127671" cy="1298042"/>
          </a:xfrm>
          <a:custGeom>
            <a:avLst/>
            <a:gdLst/>
            <a:ahLst/>
            <a:cxnLst/>
            <a:rect r="r" b="b" t="t" l="l"/>
            <a:pathLst>
              <a:path h="1298042" w="1127671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3020" y="8662406"/>
            <a:ext cx="500490" cy="500490"/>
            <a:chOff x="0" y="0"/>
            <a:chExt cx="667320" cy="667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7258" cy="667385"/>
            </a:xfrm>
            <a:custGeom>
              <a:avLst/>
              <a:gdLst/>
              <a:ahLst/>
              <a:cxnLst/>
              <a:rect r="r" b="b" t="t" l="l"/>
              <a:pathLst>
                <a:path h="667385" w="667258">
                  <a:moveTo>
                    <a:pt x="333629" y="0"/>
                  </a:moveTo>
                  <a:lnTo>
                    <a:pt x="304165" y="129032"/>
                  </a:lnTo>
                  <a:cubicBezTo>
                    <a:pt x="282067" y="215646"/>
                    <a:pt x="215646" y="281940"/>
                    <a:pt x="129032" y="304165"/>
                  </a:cubicBezTo>
                  <a:lnTo>
                    <a:pt x="0" y="333629"/>
                  </a:lnTo>
                  <a:lnTo>
                    <a:pt x="129032" y="364998"/>
                  </a:lnTo>
                  <a:cubicBezTo>
                    <a:pt x="215646" y="385318"/>
                    <a:pt x="282067" y="453517"/>
                    <a:pt x="304165" y="540131"/>
                  </a:cubicBezTo>
                  <a:lnTo>
                    <a:pt x="333629" y="667385"/>
                  </a:lnTo>
                  <a:lnTo>
                    <a:pt x="364998" y="540131"/>
                  </a:lnTo>
                  <a:cubicBezTo>
                    <a:pt x="385318" y="453517"/>
                    <a:pt x="453517" y="385318"/>
                    <a:pt x="540131" y="364998"/>
                  </a:cubicBezTo>
                  <a:lnTo>
                    <a:pt x="667258" y="333629"/>
                  </a:lnTo>
                  <a:lnTo>
                    <a:pt x="540131" y="304165"/>
                  </a:lnTo>
                  <a:cubicBezTo>
                    <a:pt x="453517" y="282067"/>
                    <a:pt x="385318" y="215646"/>
                    <a:pt x="364998" y="129032"/>
                  </a:cubicBezTo>
                  <a:lnTo>
                    <a:pt x="333629" y="0"/>
                  </a:lnTo>
                  <a:close/>
                </a:path>
              </a:pathLst>
            </a:custGeom>
            <a:solidFill>
              <a:srgbClr val="F1EFF2"/>
            </a:solidFill>
          </p:spPr>
        </p:sp>
      </p:grpSp>
      <p:sp>
        <p:nvSpPr>
          <p:cNvPr name="AutoShape 4" id="4"/>
          <p:cNvSpPr/>
          <p:nvPr/>
        </p:nvSpPr>
        <p:spPr>
          <a:xfrm rot="157789">
            <a:off x="1602525" y="1887825"/>
            <a:ext cx="1660749" cy="0"/>
          </a:xfrm>
          <a:prstGeom prst="line">
            <a:avLst/>
          </a:prstGeom>
          <a:ln cap="rnd" w="28575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name="Group 7" id="7"/>
          <p:cNvGrpSpPr/>
          <p:nvPr/>
        </p:nvGrpSpPr>
        <p:grpSpPr>
          <a:xfrm rot="-448633">
            <a:off x="7704036" y="5984150"/>
            <a:ext cx="5436024" cy="5434834"/>
            <a:chOff x="0" y="0"/>
            <a:chExt cx="7248032" cy="7246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855626" y="856348"/>
            <a:ext cx="2082600" cy="2082000"/>
            <a:chOff x="0" y="0"/>
            <a:chExt cx="2776800" cy="277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76855" cy="2776220"/>
            </a:xfrm>
            <a:custGeom>
              <a:avLst/>
              <a:gdLst/>
              <a:ahLst/>
              <a:cxnLst/>
              <a:rect r="r" b="b" t="t" l="l"/>
              <a:pathLst>
                <a:path h="2776220" w="2776855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296817" y="1319073"/>
            <a:ext cx="1205615" cy="1204110"/>
          </a:xfrm>
          <a:custGeom>
            <a:avLst/>
            <a:gdLst/>
            <a:ahLst/>
            <a:cxnLst/>
            <a:rect r="r" b="b" t="t" l="l"/>
            <a:pathLst>
              <a:path h="1204110" w="1205615">
                <a:moveTo>
                  <a:pt x="0" y="0"/>
                </a:moveTo>
                <a:lnTo>
                  <a:pt x="1205616" y="0"/>
                </a:lnTo>
                <a:lnTo>
                  <a:pt x="1205616" y="1204110"/>
                </a:lnTo>
                <a:lnTo>
                  <a:pt x="0" y="1204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79070" y="1300023"/>
            <a:ext cx="1321395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Engenharia de Requisitos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8625" y="3241328"/>
            <a:ext cx="43333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Funcionais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1475" y="4442831"/>
            <a:ext cx="5053275" cy="421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044" indent="-273522" lvl="1">
              <a:lnSpc>
                <a:spcPts val="3040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vendedor pod</a:t>
            </a:r>
            <a:r>
              <a:rPr lang="en-US" sz="25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erá cadastrar novos produtos no sistema.</a:t>
            </a:r>
          </a:p>
          <a:p>
            <a:pPr algn="l" marL="547044" indent="-273522" lvl="1">
              <a:lnSpc>
                <a:spcPts val="3040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vendedor poderá editar informações de produtos já cadastrados.</a:t>
            </a:r>
          </a:p>
          <a:p>
            <a:pPr algn="l" marL="547044" indent="-273522" lvl="1">
              <a:lnSpc>
                <a:spcPts val="3040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cliente poderá visualizar os produtos disponíveis.</a:t>
            </a:r>
          </a:p>
          <a:p>
            <a:pPr algn="l" marL="547044" indent="-273522" lvl="1">
              <a:lnSpc>
                <a:spcPts val="3040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usuário fará o seu próprio cadastro.</a:t>
            </a:r>
          </a:p>
          <a:p>
            <a:pPr algn="l">
              <a:lnSpc>
                <a:spcPts val="304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977325" y="3241328"/>
            <a:ext cx="43333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Não-Funcionais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45537" y="4357106"/>
            <a:ext cx="5044249" cy="498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sistema deve funcionar em dispositivos móveis.</a:t>
            </a:r>
          </a:p>
          <a:p>
            <a:pPr algn="l" marL="539751" indent="-269876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 caso de falho, o sistema deve se recuperar em até 5 minutos.</a:t>
            </a:r>
          </a:p>
          <a:p>
            <a:pPr algn="l" marL="539751" indent="-269876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Todas as operações devem ser registradas com data e hora.</a:t>
            </a:r>
          </a:p>
          <a:p>
            <a:pPr algn="l" marL="539751" indent="-269876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sistema deve exibir mensagens de erros claras e compreensíveis em caso de falha.</a:t>
            </a:r>
          </a:p>
          <a:p>
            <a:pPr algn="l">
              <a:lnSpc>
                <a:spcPts val="30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412070" y="3269903"/>
            <a:ext cx="43333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De Domínio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35823" y="4385681"/>
            <a:ext cx="5817874" cy="536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É</a:t>
            </a: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obrigatório informar se o produto é novo, seminovo ou usado.</a:t>
            </a:r>
          </a:p>
          <a:p>
            <a:pPr algn="l" marL="539751" indent="-269876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Todas as compras deve ser realizadas para maiores de 18 anos.</a:t>
            </a:r>
          </a:p>
          <a:p>
            <a:pPr algn="l" marL="539751" indent="-269876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cliente tem até 7 dias corridos para solicitar troca ou devolução de um produto.</a:t>
            </a:r>
          </a:p>
          <a:p>
            <a:pPr algn="l" marL="539751" indent="-269876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Vendedores devem atualizar o status de envio em até 48 horas após a confirmação de pagamento.</a:t>
            </a:r>
          </a:p>
          <a:p>
            <a:pPr algn="l">
              <a:lnSpc>
                <a:spcPts val="3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34874" y="6211783"/>
            <a:ext cx="7398458" cy="382410"/>
            <a:chOff x="0" y="0"/>
            <a:chExt cx="7470592" cy="3861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0649" cy="386080"/>
            </a:xfrm>
            <a:custGeom>
              <a:avLst/>
              <a:gdLst/>
              <a:ahLst/>
              <a:cxnLst/>
              <a:rect r="r" b="b" t="t" l="l"/>
              <a:pathLst>
                <a:path h="386080" w="7470649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55400" y="4455574"/>
            <a:ext cx="10532600" cy="246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7"/>
              </a:lnSpc>
            </a:pPr>
            <a:r>
              <a:rPr lang="en-US" sz="12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Diagramas de Caso de Uso</a:t>
            </a:r>
          </a:p>
        </p:txBody>
      </p:sp>
      <p:grpSp>
        <p:nvGrpSpPr>
          <p:cNvPr name="Group 7" id="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369725" y="515562"/>
            <a:ext cx="4069614" cy="404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55400" y="7193592"/>
            <a:ext cx="574695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visão das interações possíveis</a:t>
            </a:r>
          </a:p>
        </p:txBody>
      </p:sp>
      <p:sp>
        <p:nvSpPr>
          <p:cNvPr name="AutoShape 11" id="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cap="rnd" w="57150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912400" y="1374798"/>
            <a:ext cx="2082600" cy="2082000"/>
            <a:chOff x="0" y="0"/>
            <a:chExt cx="2776800" cy="277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76855" cy="2776220"/>
            </a:xfrm>
            <a:custGeom>
              <a:avLst/>
              <a:gdLst/>
              <a:ahLst/>
              <a:cxnLst/>
              <a:rect r="r" b="b" t="t" l="l"/>
              <a:pathLst>
                <a:path h="2776220" w="2776855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387472" y="1766780"/>
            <a:ext cx="1127671" cy="1298042"/>
          </a:xfrm>
          <a:custGeom>
            <a:avLst/>
            <a:gdLst/>
            <a:ahLst/>
            <a:cxnLst/>
            <a:rect r="r" b="b" t="t" l="l"/>
            <a:pathLst>
              <a:path h="1298042" w="1127671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48633">
            <a:off x="835186" y="5578550"/>
            <a:ext cx="5436024" cy="5434834"/>
            <a:chOff x="0" y="0"/>
            <a:chExt cx="7248032" cy="72464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543241" y="840509"/>
            <a:ext cx="14139762" cy="8605982"/>
          </a:xfrm>
          <a:custGeom>
            <a:avLst/>
            <a:gdLst/>
            <a:ahLst/>
            <a:cxnLst/>
            <a:rect r="r" b="b" t="t" l="l"/>
            <a:pathLst>
              <a:path h="8605982" w="14139762">
                <a:moveTo>
                  <a:pt x="0" y="0"/>
                </a:moveTo>
                <a:lnTo>
                  <a:pt x="14139763" y="0"/>
                </a:lnTo>
                <a:lnTo>
                  <a:pt x="14139763" y="8605982"/>
                </a:lnTo>
                <a:lnTo>
                  <a:pt x="0" y="8605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48633">
            <a:off x="835186" y="5578550"/>
            <a:ext cx="5436024" cy="5434834"/>
            <a:chOff x="0" y="0"/>
            <a:chExt cx="7248032" cy="72464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229386" y="474663"/>
            <a:ext cx="14721057" cy="9337673"/>
          </a:xfrm>
          <a:custGeom>
            <a:avLst/>
            <a:gdLst/>
            <a:ahLst/>
            <a:cxnLst/>
            <a:rect r="r" b="b" t="t" l="l"/>
            <a:pathLst>
              <a:path h="9337673" w="14721057">
                <a:moveTo>
                  <a:pt x="0" y="0"/>
                </a:moveTo>
                <a:lnTo>
                  <a:pt x="14721057" y="0"/>
                </a:lnTo>
                <a:lnTo>
                  <a:pt x="14721057" y="9337674"/>
                </a:lnTo>
                <a:lnTo>
                  <a:pt x="0" y="9337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48633">
            <a:off x="835186" y="5578550"/>
            <a:ext cx="5436024" cy="5434834"/>
            <a:chOff x="0" y="0"/>
            <a:chExt cx="7248032" cy="72464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759952" y="387562"/>
            <a:ext cx="11647568" cy="9511876"/>
          </a:xfrm>
          <a:custGeom>
            <a:avLst/>
            <a:gdLst/>
            <a:ahLst/>
            <a:cxnLst/>
            <a:rect r="r" b="b" t="t" l="l"/>
            <a:pathLst>
              <a:path h="9511876" w="11647568">
                <a:moveTo>
                  <a:pt x="0" y="0"/>
                </a:moveTo>
                <a:lnTo>
                  <a:pt x="11647568" y="0"/>
                </a:lnTo>
                <a:lnTo>
                  <a:pt x="11647568" y="9511876"/>
                </a:lnTo>
                <a:lnTo>
                  <a:pt x="0" y="9511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70" r="-1230" b="-27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96199" y="6173571"/>
            <a:ext cx="6003464" cy="310306"/>
            <a:chOff x="0" y="0"/>
            <a:chExt cx="7470592" cy="3861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0649" cy="386080"/>
            </a:xfrm>
            <a:custGeom>
              <a:avLst/>
              <a:gdLst/>
              <a:ahLst/>
              <a:cxnLst/>
              <a:rect r="r" b="b" t="t" l="l"/>
              <a:pathLst>
                <a:path h="386080" w="7470649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55400" y="4981984"/>
            <a:ext cx="10354363" cy="1275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2"/>
              </a:lnSpc>
            </a:pPr>
            <a:r>
              <a:rPr lang="en-US" sz="11934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Modelagem</a:t>
            </a:r>
          </a:p>
        </p:txBody>
      </p:sp>
      <p:grpSp>
        <p:nvGrpSpPr>
          <p:cNvPr name="Group 7" id="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369725" y="515562"/>
            <a:ext cx="4069614" cy="404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96199" y="7193592"/>
            <a:ext cx="6353305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erramentas e tecnologias aplicadas no desenvolvimento</a:t>
            </a:r>
          </a:p>
        </p:txBody>
      </p:sp>
      <p:sp>
        <p:nvSpPr>
          <p:cNvPr name="AutoShape 11" id="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cap="rnd" w="57150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912400" y="1374798"/>
            <a:ext cx="2082600" cy="2082000"/>
            <a:chOff x="0" y="0"/>
            <a:chExt cx="2776800" cy="277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76855" cy="2776220"/>
            </a:xfrm>
            <a:custGeom>
              <a:avLst/>
              <a:gdLst/>
              <a:ahLst/>
              <a:cxnLst/>
              <a:rect r="r" b="b" t="t" l="l"/>
              <a:pathLst>
                <a:path h="2776220" w="2776855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387472" y="1766780"/>
            <a:ext cx="1127671" cy="1298042"/>
          </a:xfrm>
          <a:custGeom>
            <a:avLst/>
            <a:gdLst/>
            <a:ahLst/>
            <a:cxnLst/>
            <a:rect r="r" b="b" t="t" l="l"/>
            <a:pathLst>
              <a:path h="1298042" w="1127671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48633">
            <a:off x="835186" y="5578550"/>
            <a:ext cx="5436024" cy="5434834"/>
            <a:chOff x="0" y="0"/>
            <a:chExt cx="7248032" cy="72464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63781" y="195775"/>
            <a:ext cx="17360438" cy="9895449"/>
          </a:xfrm>
          <a:custGeom>
            <a:avLst/>
            <a:gdLst/>
            <a:ahLst/>
            <a:cxnLst/>
            <a:rect r="r" b="b" t="t" l="l"/>
            <a:pathLst>
              <a:path h="9895449" w="17360438">
                <a:moveTo>
                  <a:pt x="0" y="0"/>
                </a:moveTo>
                <a:lnTo>
                  <a:pt x="17360438" y="0"/>
                </a:lnTo>
                <a:lnTo>
                  <a:pt x="17360438" y="9895450"/>
                </a:lnTo>
                <a:lnTo>
                  <a:pt x="0" y="9895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361755" y="6221856"/>
            <a:ext cx="6049481" cy="312685"/>
            <a:chOff x="0" y="0"/>
            <a:chExt cx="7470592" cy="3861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0649" cy="386080"/>
            </a:xfrm>
            <a:custGeom>
              <a:avLst/>
              <a:gdLst/>
              <a:ahLst/>
              <a:cxnLst/>
              <a:rect r="r" b="b" t="t" l="l"/>
              <a:pathLst>
                <a:path h="386080" w="7470649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323655" y="4395948"/>
            <a:ext cx="10094539" cy="230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7"/>
              </a:lnSpc>
            </a:pPr>
            <a:r>
              <a:rPr lang="en-US" sz="11593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Tecnologias Utilizadas</a:t>
            </a:r>
          </a:p>
        </p:txBody>
      </p:sp>
      <p:grpSp>
        <p:nvGrpSpPr>
          <p:cNvPr name="Group 7" id="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369725" y="515562"/>
            <a:ext cx="4069614" cy="404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61755" y="7452169"/>
            <a:ext cx="57469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sustenta</a:t>
            </a: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 solução</a:t>
            </a:r>
          </a:p>
        </p:txBody>
      </p:sp>
      <p:sp>
        <p:nvSpPr>
          <p:cNvPr name="AutoShape 11" id="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cap="rnd" w="57150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912400" y="1374798"/>
            <a:ext cx="2082600" cy="2082000"/>
            <a:chOff x="0" y="0"/>
            <a:chExt cx="2776800" cy="277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76855" cy="2776220"/>
            </a:xfrm>
            <a:custGeom>
              <a:avLst/>
              <a:gdLst/>
              <a:ahLst/>
              <a:cxnLst/>
              <a:rect r="r" b="b" t="t" l="l"/>
              <a:pathLst>
                <a:path h="2776220" w="2776855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387472" y="1766780"/>
            <a:ext cx="1127671" cy="1298042"/>
          </a:xfrm>
          <a:custGeom>
            <a:avLst/>
            <a:gdLst/>
            <a:ahLst/>
            <a:cxnLst/>
            <a:rect r="r" b="b" t="t" l="l"/>
            <a:pathLst>
              <a:path h="1298042" w="1127671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38621" y="7437013"/>
            <a:ext cx="323746" cy="322864"/>
            <a:chOff x="0" y="0"/>
            <a:chExt cx="606741" cy="605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6679" cy="605028"/>
            </a:xfrm>
            <a:custGeom>
              <a:avLst/>
              <a:gdLst/>
              <a:ahLst/>
              <a:cxnLst/>
              <a:rect r="r" b="b" t="t" l="l"/>
              <a:pathLst>
                <a:path h="605028" w="606679">
                  <a:moveTo>
                    <a:pt x="304165" y="0"/>
                  </a:moveTo>
                  <a:lnTo>
                    <a:pt x="275844" y="115316"/>
                  </a:lnTo>
                  <a:cubicBezTo>
                    <a:pt x="257429" y="193929"/>
                    <a:pt x="195580" y="255778"/>
                    <a:pt x="117094" y="274066"/>
                  </a:cubicBezTo>
                  <a:lnTo>
                    <a:pt x="0" y="300863"/>
                  </a:lnTo>
                  <a:lnTo>
                    <a:pt x="116967" y="329311"/>
                  </a:lnTo>
                  <a:cubicBezTo>
                    <a:pt x="195580" y="347726"/>
                    <a:pt x="257429" y="409575"/>
                    <a:pt x="275717" y="488061"/>
                  </a:cubicBezTo>
                  <a:lnTo>
                    <a:pt x="302514" y="605028"/>
                  </a:lnTo>
                  <a:lnTo>
                    <a:pt x="330962" y="488061"/>
                  </a:lnTo>
                  <a:cubicBezTo>
                    <a:pt x="349377" y="409448"/>
                    <a:pt x="411226" y="347599"/>
                    <a:pt x="489712" y="329311"/>
                  </a:cubicBezTo>
                  <a:lnTo>
                    <a:pt x="606679" y="302514"/>
                  </a:lnTo>
                  <a:lnTo>
                    <a:pt x="489712" y="274066"/>
                  </a:lnTo>
                  <a:cubicBezTo>
                    <a:pt x="411099" y="255651"/>
                    <a:pt x="349250" y="193802"/>
                    <a:pt x="330962" y="115316"/>
                  </a:cubicBezTo>
                  <a:lnTo>
                    <a:pt x="304165" y="0"/>
                  </a:lnTo>
                  <a:close/>
                </a:path>
              </a:pathLst>
            </a:custGeom>
            <a:solidFill>
              <a:srgbClr val="F1EF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78062" y="3159452"/>
            <a:ext cx="2067249" cy="2067249"/>
          </a:xfrm>
          <a:custGeom>
            <a:avLst/>
            <a:gdLst/>
            <a:ahLst/>
            <a:cxnLst/>
            <a:rect r="r" b="b" t="t" l="l"/>
            <a:pathLst>
              <a:path h="2067249" w="2067249">
                <a:moveTo>
                  <a:pt x="0" y="0"/>
                </a:moveTo>
                <a:lnTo>
                  <a:pt x="2067249" y="0"/>
                </a:lnTo>
                <a:lnTo>
                  <a:pt x="2067249" y="2067249"/>
                </a:lnTo>
                <a:lnTo>
                  <a:pt x="0" y="2067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20171" y="3159452"/>
            <a:ext cx="2067249" cy="2067249"/>
          </a:xfrm>
          <a:custGeom>
            <a:avLst/>
            <a:gdLst/>
            <a:ahLst/>
            <a:cxnLst/>
            <a:rect r="r" b="b" t="t" l="l"/>
            <a:pathLst>
              <a:path h="2067249" w="2067249">
                <a:moveTo>
                  <a:pt x="0" y="0"/>
                </a:moveTo>
                <a:lnTo>
                  <a:pt x="2067249" y="0"/>
                </a:lnTo>
                <a:lnTo>
                  <a:pt x="2067249" y="2067249"/>
                </a:lnTo>
                <a:lnTo>
                  <a:pt x="0" y="2067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0947" y="5376652"/>
            <a:ext cx="2274364" cy="2274364"/>
          </a:xfrm>
          <a:custGeom>
            <a:avLst/>
            <a:gdLst/>
            <a:ahLst/>
            <a:cxnLst/>
            <a:rect r="r" b="b" t="t" l="l"/>
            <a:pathLst>
              <a:path h="2274364" w="2274364">
                <a:moveTo>
                  <a:pt x="0" y="0"/>
                </a:moveTo>
                <a:lnTo>
                  <a:pt x="2274364" y="0"/>
                </a:lnTo>
                <a:lnTo>
                  <a:pt x="2274364" y="2274364"/>
                </a:lnTo>
                <a:lnTo>
                  <a:pt x="0" y="2274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18330" y="2827032"/>
            <a:ext cx="2057371" cy="2057371"/>
          </a:xfrm>
          <a:custGeom>
            <a:avLst/>
            <a:gdLst/>
            <a:ahLst/>
            <a:cxnLst/>
            <a:rect r="r" b="b" t="t" l="l"/>
            <a:pathLst>
              <a:path h="2057371" w="2057371">
                <a:moveTo>
                  <a:pt x="0" y="0"/>
                </a:moveTo>
                <a:lnTo>
                  <a:pt x="2057372" y="0"/>
                </a:lnTo>
                <a:lnTo>
                  <a:pt x="2057372" y="2057372"/>
                </a:lnTo>
                <a:lnTo>
                  <a:pt x="0" y="20573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647070" y="2680996"/>
            <a:ext cx="2349444" cy="2349444"/>
          </a:xfrm>
          <a:custGeom>
            <a:avLst/>
            <a:gdLst/>
            <a:ahLst/>
            <a:cxnLst/>
            <a:rect r="r" b="b" t="t" l="l"/>
            <a:pathLst>
              <a:path h="2349444" w="2349444">
                <a:moveTo>
                  <a:pt x="0" y="0"/>
                </a:moveTo>
                <a:lnTo>
                  <a:pt x="2349444" y="0"/>
                </a:lnTo>
                <a:lnTo>
                  <a:pt x="2349444" y="2349444"/>
                </a:lnTo>
                <a:lnTo>
                  <a:pt x="0" y="23494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621636" y="5750060"/>
            <a:ext cx="1788896" cy="1788896"/>
          </a:xfrm>
          <a:custGeom>
            <a:avLst/>
            <a:gdLst/>
            <a:ahLst/>
            <a:cxnLst/>
            <a:rect r="r" b="b" t="t" l="l"/>
            <a:pathLst>
              <a:path h="1788896" w="1788896">
                <a:moveTo>
                  <a:pt x="0" y="0"/>
                </a:moveTo>
                <a:lnTo>
                  <a:pt x="1788895" y="0"/>
                </a:lnTo>
                <a:lnTo>
                  <a:pt x="1788895" y="1788895"/>
                </a:lnTo>
                <a:lnTo>
                  <a:pt x="0" y="17888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523064" y="5376652"/>
            <a:ext cx="2473451" cy="2473451"/>
          </a:xfrm>
          <a:custGeom>
            <a:avLst/>
            <a:gdLst/>
            <a:ahLst/>
            <a:cxnLst/>
            <a:rect r="r" b="b" t="t" l="l"/>
            <a:pathLst>
              <a:path h="2473451" w="2473451">
                <a:moveTo>
                  <a:pt x="0" y="0"/>
                </a:moveTo>
                <a:lnTo>
                  <a:pt x="2473450" y="0"/>
                </a:lnTo>
                <a:lnTo>
                  <a:pt x="2473450" y="2473451"/>
                </a:lnTo>
                <a:lnTo>
                  <a:pt x="0" y="24734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101987" y="5462025"/>
            <a:ext cx="2103618" cy="2103618"/>
          </a:xfrm>
          <a:custGeom>
            <a:avLst/>
            <a:gdLst/>
            <a:ahLst/>
            <a:cxnLst/>
            <a:rect r="r" b="b" t="t" l="l"/>
            <a:pathLst>
              <a:path h="2103618" w="2103618">
                <a:moveTo>
                  <a:pt x="0" y="0"/>
                </a:moveTo>
                <a:lnTo>
                  <a:pt x="2103617" y="0"/>
                </a:lnTo>
                <a:lnTo>
                  <a:pt x="2103617" y="2103618"/>
                </a:lnTo>
                <a:lnTo>
                  <a:pt x="0" y="21036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32807" y="2319041"/>
            <a:ext cx="1557759" cy="84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3"/>
              </a:lnSpc>
              <a:spcBef>
                <a:spcPct val="0"/>
              </a:spcBef>
            </a:pPr>
            <a:r>
              <a:rPr lang="en-US" sz="4838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HTML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44949" y="2319041"/>
            <a:ext cx="1017693" cy="84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3"/>
              </a:lnSpc>
              <a:spcBef>
                <a:spcPct val="0"/>
              </a:spcBef>
            </a:pPr>
            <a:r>
              <a:rPr lang="en-US" sz="4838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CSS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37795" y="7340788"/>
            <a:ext cx="540670" cy="84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3"/>
              </a:lnSpc>
              <a:spcBef>
                <a:spcPct val="0"/>
              </a:spcBef>
            </a:pPr>
            <a:r>
              <a:rPr lang="en-US" sz="4838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JS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71476" y="1844809"/>
            <a:ext cx="1300632" cy="836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4"/>
              </a:lnSpc>
              <a:spcBef>
                <a:spcPct val="0"/>
              </a:spcBef>
            </a:pPr>
            <a:r>
              <a:rPr lang="en-US" sz="481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JUnit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43011" y="7434180"/>
            <a:ext cx="1946144" cy="1689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4"/>
              </a:lnSpc>
            </a:pPr>
            <a:r>
              <a:rPr lang="en-US" sz="481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VSCode</a:t>
            </a:r>
          </a:p>
          <a:p>
            <a:pPr algn="ctr">
              <a:lnSpc>
                <a:spcPts val="6734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4279603" y="1844809"/>
            <a:ext cx="1934827" cy="836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4"/>
              </a:lnSpc>
              <a:spcBef>
                <a:spcPct val="0"/>
              </a:spcBef>
            </a:pPr>
            <a:r>
              <a:rPr lang="en-US" sz="481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Draw.io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75423" y="7568514"/>
            <a:ext cx="1492738" cy="836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4"/>
              </a:lnSpc>
              <a:spcBef>
                <a:spcPct val="0"/>
              </a:spcBef>
            </a:pPr>
            <a:r>
              <a:rPr lang="en-US" sz="481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Office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78215" y="7460868"/>
            <a:ext cx="1551162" cy="84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3"/>
              </a:lnSpc>
              <a:spcBef>
                <a:spcPct val="0"/>
              </a:spcBef>
            </a:pPr>
            <a:r>
              <a:rPr lang="en-US" sz="4838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Figma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15730" y="8637146"/>
            <a:ext cx="455056" cy="453816"/>
            <a:chOff x="0" y="0"/>
            <a:chExt cx="606741" cy="605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6679" cy="605028"/>
            </a:xfrm>
            <a:custGeom>
              <a:avLst/>
              <a:gdLst/>
              <a:ahLst/>
              <a:cxnLst/>
              <a:rect r="r" b="b" t="t" l="l"/>
              <a:pathLst>
                <a:path h="605028" w="606679">
                  <a:moveTo>
                    <a:pt x="304165" y="0"/>
                  </a:moveTo>
                  <a:lnTo>
                    <a:pt x="275844" y="115316"/>
                  </a:lnTo>
                  <a:cubicBezTo>
                    <a:pt x="257429" y="193929"/>
                    <a:pt x="195580" y="255778"/>
                    <a:pt x="117094" y="274066"/>
                  </a:cubicBezTo>
                  <a:lnTo>
                    <a:pt x="0" y="300863"/>
                  </a:lnTo>
                  <a:lnTo>
                    <a:pt x="116967" y="329311"/>
                  </a:lnTo>
                  <a:cubicBezTo>
                    <a:pt x="195580" y="347726"/>
                    <a:pt x="257429" y="409575"/>
                    <a:pt x="275717" y="488061"/>
                  </a:cubicBezTo>
                  <a:lnTo>
                    <a:pt x="302514" y="605028"/>
                  </a:lnTo>
                  <a:lnTo>
                    <a:pt x="330962" y="488061"/>
                  </a:lnTo>
                  <a:cubicBezTo>
                    <a:pt x="349377" y="409448"/>
                    <a:pt x="411226" y="347599"/>
                    <a:pt x="489712" y="329311"/>
                  </a:cubicBezTo>
                  <a:lnTo>
                    <a:pt x="606679" y="302514"/>
                  </a:lnTo>
                  <a:lnTo>
                    <a:pt x="489712" y="274066"/>
                  </a:lnTo>
                  <a:cubicBezTo>
                    <a:pt x="411099" y="255651"/>
                    <a:pt x="349250" y="193802"/>
                    <a:pt x="330962" y="115316"/>
                  </a:cubicBezTo>
                  <a:lnTo>
                    <a:pt x="304165" y="0"/>
                  </a:lnTo>
                  <a:close/>
                </a:path>
              </a:pathLst>
            </a:custGeom>
            <a:solidFill>
              <a:srgbClr val="F1EF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177575" y="2627156"/>
            <a:ext cx="2690350" cy="2690350"/>
          </a:xfrm>
          <a:custGeom>
            <a:avLst/>
            <a:gdLst/>
            <a:ahLst/>
            <a:cxnLst/>
            <a:rect r="r" b="b" t="t" l="l"/>
            <a:pathLst>
              <a:path h="2690350" w="2690350">
                <a:moveTo>
                  <a:pt x="0" y="0"/>
                </a:moveTo>
                <a:lnTo>
                  <a:pt x="2690350" y="0"/>
                </a:lnTo>
                <a:lnTo>
                  <a:pt x="2690350" y="2690350"/>
                </a:lnTo>
                <a:lnTo>
                  <a:pt x="0" y="2690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83130" y="2829516"/>
            <a:ext cx="2285631" cy="2285631"/>
          </a:xfrm>
          <a:custGeom>
            <a:avLst/>
            <a:gdLst/>
            <a:ahLst/>
            <a:cxnLst/>
            <a:rect r="r" b="b" t="t" l="l"/>
            <a:pathLst>
              <a:path h="2285631" w="2285631">
                <a:moveTo>
                  <a:pt x="0" y="0"/>
                </a:moveTo>
                <a:lnTo>
                  <a:pt x="2285631" y="0"/>
                </a:lnTo>
                <a:lnTo>
                  <a:pt x="2285631" y="2285631"/>
                </a:lnTo>
                <a:lnTo>
                  <a:pt x="0" y="2285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379935" y="5669328"/>
            <a:ext cx="2285631" cy="2285631"/>
          </a:xfrm>
          <a:custGeom>
            <a:avLst/>
            <a:gdLst/>
            <a:ahLst/>
            <a:cxnLst/>
            <a:rect r="r" b="b" t="t" l="l"/>
            <a:pathLst>
              <a:path h="2285631" w="2285631">
                <a:moveTo>
                  <a:pt x="0" y="0"/>
                </a:moveTo>
                <a:lnTo>
                  <a:pt x="2285631" y="0"/>
                </a:lnTo>
                <a:lnTo>
                  <a:pt x="2285631" y="2285631"/>
                </a:lnTo>
                <a:lnTo>
                  <a:pt x="0" y="2285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94890" y="2031907"/>
            <a:ext cx="2869461" cy="2869461"/>
          </a:xfrm>
          <a:custGeom>
            <a:avLst/>
            <a:gdLst/>
            <a:ahLst/>
            <a:cxnLst/>
            <a:rect r="r" b="b" t="t" l="l"/>
            <a:pathLst>
              <a:path h="2869461" w="2869461">
                <a:moveTo>
                  <a:pt x="0" y="0"/>
                </a:moveTo>
                <a:lnTo>
                  <a:pt x="2869461" y="0"/>
                </a:lnTo>
                <a:lnTo>
                  <a:pt x="2869461" y="2869462"/>
                </a:lnTo>
                <a:lnTo>
                  <a:pt x="0" y="28694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935787" y="4720550"/>
            <a:ext cx="4787666" cy="4787666"/>
          </a:xfrm>
          <a:custGeom>
            <a:avLst/>
            <a:gdLst/>
            <a:ahLst/>
            <a:cxnLst/>
            <a:rect r="r" b="b" t="t" l="l"/>
            <a:pathLst>
              <a:path h="4787666" w="4787666">
                <a:moveTo>
                  <a:pt x="0" y="0"/>
                </a:moveTo>
                <a:lnTo>
                  <a:pt x="4787667" y="0"/>
                </a:lnTo>
                <a:lnTo>
                  <a:pt x="4787667" y="4787666"/>
                </a:lnTo>
                <a:lnTo>
                  <a:pt x="0" y="47876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0152" y="6270542"/>
            <a:ext cx="10464862" cy="540906"/>
            <a:chOff x="0" y="0"/>
            <a:chExt cx="7470592" cy="3861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0649" cy="386080"/>
            </a:xfrm>
            <a:custGeom>
              <a:avLst/>
              <a:gdLst/>
              <a:ahLst/>
              <a:cxnLst/>
              <a:rect r="r" b="b" t="t" l="l"/>
              <a:pathLst>
                <a:path h="386080" w="7470649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07775" y="4451981"/>
            <a:ext cx="10297239" cy="1327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7"/>
              </a:lnSpc>
            </a:pPr>
            <a:r>
              <a:rPr lang="en-US" sz="12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Processo de</a:t>
            </a:r>
          </a:p>
        </p:txBody>
      </p:sp>
      <p:grpSp>
        <p:nvGrpSpPr>
          <p:cNvPr name="Group 7" id="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369725" y="515562"/>
            <a:ext cx="4069614" cy="404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07775" y="7280026"/>
            <a:ext cx="721742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caminho perc</a:t>
            </a: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orrido: etapas que transformaram o projeto</a:t>
            </a:r>
          </a:p>
        </p:txBody>
      </p:sp>
      <p:sp>
        <p:nvSpPr>
          <p:cNvPr name="AutoShape 11" id="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cap="rnd" w="57150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912400" y="1374798"/>
            <a:ext cx="2082600" cy="2082000"/>
            <a:chOff x="0" y="0"/>
            <a:chExt cx="2776800" cy="277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76855" cy="2776220"/>
            </a:xfrm>
            <a:custGeom>
              <a:avLst/>
              <a:gdLst/>
              <a:ahLst/>
              <a:cxnLst/>
              <a:rect r="r" b="b" t="t" l="l"/>
              <a:pathLst>
                <a:path h="2776220" w="2776855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387472" y="1766780"/>
            <a:ext cx="1127671" cy="1298042"/>
          </a:xfrm>
          <a:custGeom>
            <a:avLst/>
            <a:gdLst/>
            <a:ahLst/>
            <a:cxnLst/>
            <a:rect r="r" b="b" t="t" l="l"/>
            <a:pathLst>
              <a:path h="1298042" w="1127671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540152" y="5725116"/>
            <a:ext cx="10954674" cy="124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0"/>
              </a:lnSpc>
            </a:pPr>
            <a:r>
              <a:rPr lang="en-US" sz="11611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Desenvolvimento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name="AutoShape 6" id="6"/>
          <p:cNvSpPr/>
          <p:nvPr/>
        </p:nvSpPr>
        <p:spPr>
          <a:xfrm rot="157789">
            <a:off x="1602525" y="1887825"/>
            <a:ext cx="1660749" cy="0"/>
          </a:xfrm>
          <a:prstGeom prst="line">
            <a:avLst/>
          </a:prstGeom>
          <a:ln cap="rnd" w="28575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157789">
            <a:off x="1602525" y="1887825"/>
            <a:ext cx="1660749" cy="0"/>
          </a:xfrm>
          <a:prstGeom prst="line">
            <a:avLst/>
          </a:prstGeom>
          <a:ln cap="rnd" w="28575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-448633">
            <a:off x="14791686" y="5306050"/>
            <a:ext cx="5436024" cy="5434834"/>
            <a:chOff x="0" y="0"/>
            <a:chExt cx="7248032" cy="72464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555875" y="1151375"/>
            <a:ext cx="13213950" cy="107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Processo de Desenvolvimento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22650" y="6683013"/>
            <a:ext cx="1345150" cy="75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209"/>
              </a:lnSpc>
            </a:pPr>
            <a:r>
              <a:rPr lang="en-US" sz="7674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44684" y="4227017"/>
            <a:ext cx="1436791" cy="1325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836"/>
              </a:lnSpc>
            </a:pPr>
            <a:r>
              <a:rPr lang="en-US" sz="8197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08659" y="4293692"/>
            <a:ext cx="5988148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Levantamento de Requisitos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99300" y="6978369"/>
            <a:ext cx="41635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Protótipo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73925" y="4381500"/>
            <a:ext cx="4163550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Diagramas e Modelagem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91922" y="6508992"/>
            <a:ext cx="4163550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Integração com Banco (Futura)</a:t>
            </a:r>
          </a:p>
        </p:txBody>
      </p:sp>
      <p:sp>
        <p:nvSpPr>
          <p:cNvPr name="AutoShape 17" id="17"/>
          <p:cNvSpPr/>
          <p:nvPr/>
        </p:nvSpPr>
        <p:spPr>
          <a:xfrm rot="8501">
            <a:off x="1440426" y="6162675"/>
            <a:ext cx="15407147" cy="0"/>
          </a:xfrm>
          <a:prstGeom prst="line">
            <a:avLst/>
          </a:prstGeom>
          <a:ln cap="rnd" w="19050">
            <a:solidFill>
              <a:srgbClr val="ED7A0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" id="18"/>
          <p:cNvSpPr/>
          <p:nvPr/>
        </p:nvSpPr>
        <p:spPr>
          <a:xfrm flipH="true">
            <a:off x="3054475" y="5404375"/>
            <a:ext cx="24996" cy="670913"/>
          </a:xfrm>
          <a:prstGeom prst="line">
            <a:avLst/>
          </a:prstGeom>
          <a:ln cap="rnd" w="9525">
            <a:solidFill>
              <a:srgbClr val="ED7A0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9" id="19"/>
          <p:cNvSpPr/>
          <p:nvPr/>
        </p:nvSpPr>
        <p:spPr>
          <a:xfrm rot="5287948">
            <a:off x="4888670" y="6471850"/>
            <a:ext cx="584560" cy="0"/>
          </a:xfrm>
          <a:prstGeom prst="line">
            <a:avLst/>
          </a:prstGeom>
          <a:ln cap="rnd" w="9525">
            <a:solidFill>
              <a:srgbClr val="ED7A0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0" id="20"/>
          <p:cNvSpPr/>
          <p:nvPr/>
        </p:nvSpPr>
        <p:spPr>
          <a:xfrm rot="5287948">
            <a:off x="11757570" y="6471850"/>
            <a:ext cx="584560" cy="0"/>
          </a:xfrm>
          <a:prstGeom prst="line">
            <a:avLst/>
          </a:prstGeom>
          <a:ln cap="rnd" w="9525">
            <a:solidFill>
              <a:srgbClr val="ED7A07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15176700" y="426848"/>
            <a:ext cx="2082600" cy="2082000"/>
            <a:chOff x="0" y="0"/>
            <a:chExt cx="2776800" cy="2776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2776800" cy="2776000"/>
              <a:chOff x="0" y="0"/>
              <a:chExt cx="2776800" cy="2776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776855" cy="2776220"/>
              </a:xfrm>
              <a:custGeom>
                <a:avLst/>
                <a:gdLst/>
                <a:ahLst/>
                <a:cxnLst/>
                <a:rect r="r" b="b" t="t" l="l"/>
                <a:pathLst>
                  <a:path h="2776220" w="2776855">
                    <a:moveTo>
                      <a:pt x="0" y="1387983"/>
                    </a:moveTo>
                    <a:lnTo>
                      <a:pt x="265176" y="530225"/>
                    </a:lnTo>
                    <a:lnTo>
                      <a:pt x="959358" y="0"/>
                    </a:lnTo>
                    <a:lnTo>
                      <a:pt x="1817497" y="0"/>
                    </a:lnTo>
                    <a:lnTo>
                      <a:pt x="2511679" y="530225"/>
                    </a:lnTo>
                    <a:lnTo>
                      <a:pt x="2776855" y="1388110"/>
                    </a:lnTo>
                    <a:lnTo>
                      <a:pt x="2511679" y="2245995"/>
                    </a:lnTo>
                    <a:lnTo>
                      <a:pt x="1817497" y="2776220"/>
                    </a:lnTo>
                    <a:lnTo>
                      <a:pt x="959358" y="2776220"/>
                    </a:lnTo>
                    <a:lnTo>
                      <a:pt x="265176" y="2245868"/>
                    </a:lnTo>
                    <a:close/>
                  </a:path>
                </a:pathLst>
              </a:custGeom>
              <a:solidFill>
                <a:srgbClr val="ED7A07"/>
              </a:solidFill>
            </p:spPr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611730" y="704875"/>
              <a:ext cx="1551799" cy="1370397"/>
            </a:xfrm>
            <a:custGeom>
              <a:avLst/>
              <a:gdLst/>
              <a:ahLst/>
              <a:cxnLst/>
              <a:rect r="r" b="b" t="t" l="l"/>
              <a:pathLst>
                <a:path h="1370397" w="1551799">
                  <a:moveTo>
                    <a:pt x="0" y="0"/>
                  </a:moveTo>
                  <a:lnTo>
                    <a:pt x="1551799" y="0"/>
                  </a:lnTo>
                  <a:lnTo>
                    <a:pt x="1551799" y="1370397"/>
                  </a:lnTo>
                  <a:lnTo>
                    <a:pt x="0" y="1370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105700" y="4227017"/>
            <a:ext cx="1436791" cy="1325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836"/>
              </a:lnSpc>
            </a:pPr>
            <a:r>
              <a:rPr lang="en-US" sz="8197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AutoShape 26" id="26"/>
          <p:cNvSpPr/>
          <p:nvPr/>
        </p:nvSpPr>
        <p:spPr>
          <a:xfrm flipH="true">
            <a:off x="10925270" y="5404375"/>
            <a:ext cx="24996" cy="670913"/>
          </a:xfrm>
          <a:prstGeom prst="line">
            <a:avLst/>
          </a:prstGeom>
          <a:ln cap="rnd" w="9525">
            <a:solidFill>
              <a:srgbClr val="ED7A0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27" id="27"/>
          <p:cNvSpPr txBox="true"/>
          <p:nvPr/>
        </p:nvSpPr>
        <p:spPr>
          <a:xfrm rot="0">
            <a:off x="11318172" y="6518140"/>
            <a:ext cx="1345150" cy="125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209"/>
              </a:lnSpc>
            </a:pPr>
            <a:r>
              <a:rPr lang="en-US" sz="7674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47098" y="6298375"/>
            <a:ext cx="5136960" cy="265518"/>
            <a:chOff x="0" y="0"/>
            <a:chExt cx="7470592" cy="3861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0649" cy="386080"/>
            </a:xfrm>
            <a:custGeom>
              <a:avLst/>
              <a:gdLst/>
              <a:ahLst/>
              <a:cxnLst/>
              <a:rect r="r" b="b" t="t" l="l"/>
              <a:pathLst>
                <a:path h="386080" w="7470649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55400" y="4455640"/>
            <a:ext cx="9377252" cy="2460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7"/>
              </a:lnSpc>
            </a:pPr>
            <a:r>
              <a:rPr lang="en-US" sz="12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Benefícios do Sistema</a:t>
            </a:r>
          </a:p>
        </p:txBody>
      </p:sp>
      <p:grpSp>
        <p:nvGrpSpPr>
          <p:cNvPr name="Group 7" id="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369725" y="515562"/>
            <a:ext cx="4069614" cy="404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07775" y="7280026"/>
            <a:ext cx="574695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Vantagen</a:t>
            </a: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práticas para o bazar e para a comunidade</a:t>
            </a:r>
          </a:p>
        </p:txBody>
      </p:sp>
      <p:sp>
        <p:nvSpPr>
          <p:cNvPr name="AutoShape 11" id="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cap="rnd" w="57150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912400" y="1374798"/>
            <a:ext cx="2082600" cy="2082000"/>
            <a:chOff x="0" y="0"/>
            <a:chExt cx="2776800" cy="277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76855" cy="2776220"/>
            </a:xfrm>
            <a:custGeom>
              <a:avLst/>
              <a:gdLst/>
              <a:ahLst/>
              <a:cxnLst/>
              <a:rect r="r" b="b" t="t" l="l"/>
              <a:pathLst>
                <a:path h="2776220" w="2776855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387472" y="1766780"/>
            <a:ext cx="1127671" cy="1298042"/>
          </a:xfrm>
          <a:custGeom>
            <a:avLst/>
            <a:gdLst/>
            <a:ahLst/>
            <a:cxnLst/>
            <a:rect r="r" b="b" t="t" l="l"/>
            <a:pathLst>
              <a:path h="1298042" w="1127671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15730" y="8637146"/>
            <a:ext cx="455056" cy="453816"/>
            <a:chOff x="0" y="0"/>
            <a:chExt cx="606741" cy="605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6679" cy="605028"/>
            </a:xfrm>
            <a:custGeom>
              <a:avLst/>
              <a:gdLst/>
              <a:ahLst/>
              <a:cxnLst/>
              <a:rect r="r" b="b" t="t" l="l"/>
              <a:pathLst>
                <a:path h="605028" w="606679">
                  <a:moveTo>
                    <a:pt x="304165" y="0"/>
                  </a:moveTo>
                  <a:lnTo>
                    <a:pt x="275844" y="115316"/>
                  </a:lnTo>
                  <a:cubicBezTo>
                    <a:pt x="257429" y="193929"/>
                    <a:pt x="195580" y="255778"/>
                    <a:pt x="117094" y="274066"/>
                  </a:cubicBezTo>
                  <a:lnTo>
                    <a:pt x="0" y="300863"/>
                  </a:lnTo>
                  <a:lnTo>
                    <a:pt x="116967" y="329311"/>
                  </a:lnTo>
                  <a:cubicBezTo>
                    <a:pt x="195580" y="347726"/>
                    <a:pt x="257429" y="409575"/>
                    <a:pt x="275717" y="488061"/>
                  </a:cubicBezTo>
                  <a:lnTo>
                    <a:pt x="302514" y="605028"/>
                  </a:lnTo>
                  <a:lnTo>
                    <a:pt x="330962" y="488061"/>
                  </a:lnTo>
                  <a:cubicBezTo>
                    <a:pt x="349377" y="409448"/>
                    <a:pt x="411226" y="347599"/>
                    <a:pt x="489712" y="329311"/>
                  </a:cubicBezTo>
                  <a:lnTo>
                    <a:pt x="606679" y="302514"/>
                  </a:lnTo>
                  <a:lnTo>
                    <a:pt x="489712" y="274066"/>
                  </a:lnTo>
                  <a:cubicBezTo>
                    <a:pt x="411099" y="255651"/>
                    <a:pt x="349250" y="193802"/>
                    <a:pt x="330962" y="115316"/>
                  </a:cubicBezTo>
                  <a:lnTo>
                    <a:pt x="304165" y="0"/>
                  </a:lnTo>
                  <a:close/>
                </a:path>
              </a:pathLst>
            </a:custGeom>
            <a:solidFill>
              <a:srgbClr val="F1EFF2"/>
            </a:solidFill>
          </p:spPr>
        </p:sp>
      </p:grpSp>
      <p:sp>
        <p:nvSpPr>
          <p:cNvPr name="AutoShape 4" id="4"/>
          <p:cNvSpPr/>
          <p:nvPr/>
        </p:nvSpPr>
        <p:spPr>
          <a:xfrm rot="157789">
            <a:off x="1602525" y="1887825"/>
            <a:ext cx="1660749" cy="0"/>
          </a:xfrm>
          <a:prstGeom prst="line">
            <a:avLst/>
          </a:prstGeom>
          <a:ln cap="rnd" w="28575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089976" y="494548"/>
            <a:ext cx="2082600" cy="2082000"/>
            <a:chOff x="0" y="0"/>
            <a:chExt cx="2776800" cy="277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76855" cy="2776220"/>
            </a:xfrm>
            <a:custGeom>
              <a:avLst/>
              <a:gdLst/>
              <a:ahLst/>
              <a:cxnLst/>
              <a:rect r="r" b="b" t="t" l="l"/>
              <a:pathLst>
                <a:path h="2776220" w="2776855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3556075" y="1151375"/>
            <a:ext cx="13213950" cy="107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B</a:t>
            </a: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enefícios do Sistema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592821" y="1016247"/>
            <a:ext cx="1113925" cy="1090518"/>
          </a:xfrm>
          <a:custGeom>
            <a:avLst/>
            <a:gdLst/>
            <a:ahLst/>
            <a:cxnLst/>
            <a:rect r="r" b="b" t="t" l="l"/>
            <a:pathLst>
              <a:path h="1090518" w="1113925">
                <a:moveTo>
                  <a:pt x="0" y="0"/>
                </a:moveTo>
                <a:lnTo>
                  <a:pt x="1113925" y="0"/>
                </a:lnTo>
                <a:lnTo>
                  <a:pt x="1113925" y="1090519"/>
                </a:lnTo>
                <a:lnTo>
                  <a:pt x="0" y="10905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33826" y="6802800"/>
            <a:ext cx="3082226" cy="440400"/>
          </a:xfrm>
          <a:custGeom>
            <a:avLst/>
            <a:gdLst/>
            <a:ahLst/>
            <a:cxnLst/>
            <a:rect r="r" b="b" t="t" l="l"/>
            <a:pathLst>
              <a:path h="440400" w="3082226">
                <a:moveTo>
                  <a:pt x="0" y="0"/>
                </a:moveTo>
                <a:lnTo>
                  <a:pt x="3082226" y="0"/>
                </a:lnTo>
                <a:lnTo>
                  <a:pt x="3082226" y="440400"/>
                </a:lnTo>
                <a:lnTo>
                  <a:pt x="0" y="440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33826" y="3632640"/>
            <a:ext cx="3082226" cy="440400"/>
          </a:xfrm>
          <a:custGeom>
            <a:avLst/>
            <a:gdLst/>
            <a:ahLst/>
            <a:cxnLst/>
            <a:rect r="r" b="b" t="t" l="l"/>
            <a:pathLst>
              <a:path h="440400" w="3082226">
                <a:moveTo>
                  <a:pt x="0" y="0"/>
                </a:moveTo>
                <a:lnTo>
                  <a:pt x="3082226" y="0"/>
                </a:lnTo>
                <a:lnTo>
                  <a:pt x="3082226" y="440400"/>
                </a:lnTo>
                <a:lnTo>
                  <a:pt x="0" y="440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9000" y="6802800"/>
            <a:ext cx="3082226" cy="440400"/>
          </a:xfrm>
          <a:custGeom>
            <a:avLst/>
            <a:gdLst/>
            <a:ahLst/>
            <a:cxnLst/>
            <a:rect r="r" b="b" t="t" l="l"/>
            <a:pathLst>
              <a:path h="440400" w="3082226">
                <a:moveTo>
                  <a:pt x="0" y="0"/>
                </a:moveTo>
                <a:lnTo>
                  <a:pt x="3082226" y="0"/>
                </a:lnTo>
                <a:lnTo>
                  <a:pt x="3082226" y="440400"/>
                </a:lnTo>
                <a:lnTo>
                  <a:pt x="0" y="440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88049" y="3592360"/>
            <a:ext cx="3364127" cy="480679"/>
          </a:xfrm>
          <a:custGeom>
            <a:avLst/>
            <a:gdLst/>
            <a:ahLst/>
            <a:cxnLst/>
            <a:rect r="r" b="b" t="t" l="l"/>
            <a:pathLst>
              <a:path h="480679" w="3364127">
                <a:moveTo>
                  <a:pt x="0" y="0"/>
                </a:moveTo>
                <a:lnTo>
                  <a:pt x="3364127" y="0"/>
                </a:lnTo>
                <a:lnTo>
                  <a:pt x="3364127" y="480680"/>
                </a:lnTo>
                <a:lnTo>
                  <a:pt x="0" y="4806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786726" y="3459010"/>
            <a:ext cx="4163550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Organização Centralizada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20051" y="6669450"/>
            <a:ext cx="4163550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Maior alcance e divulgação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02725" y="3506635"/>
            <a:ext cx="4163550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Fácil e intuitivo de se utilizar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41608" y="6688500"/>
            <a:ext cx="4163550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Redução de erros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1781" y="6311043"/>
            <a:ext cx="4961888" cy="256469"/>
            <a:chOff x="0" y="0"/>
            <a:chExt cx="7470592" cy="3861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0649" cy="386080"/>
            </a:xfrm>
            <a:custGeom>
              <a:avLst/>
              <a:gdLst/>
              <a:ahLst/>
              <a:cxnLst/>
              <a:rect r="r" b="b" t="t" l="l"/>
              <a:pathLst>
                <a:path h="386080" w="7470649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55400" y="4455574"/>
            <a:ext cx="9377252" cy="246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7"/>
              </a:lnSpc>
            </a:pPr>
            <a:r>
              <a:rPr lang="en-US" sz="12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Trabalhos Futuros</a:t>
            </a:r>
          </a:p>
        </p:txBody>
      </p:sp>
      <p:grpSp>
        <p:nvGrpSpPr>
          <p:cNvPr name="Group 7" id="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369725" y="515562"/>
            <a:ext cx="4069614" cy="404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41125" y="7270501"/>
            <a:ext cx="769832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próxim</a:t>
            </a: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passo: evoluções que darão vida ao sistema completo</a:t>
            </a:r>
          </a:p>
        </p:txBody>
      </p:sp>
      <p:sp>
        <p:nvSpPr>
          <p:cNvPr name="AutoShape 11" id="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cap="rnd" w="57150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912400" y="1374798"/>
            <a:ext cx="2082600" cy="2082000"/>
            <a:chOff x="0" y="0"/>
            <a:chExt cx="2776800" cy="277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76855" cy="2776220"/>
            </a:xfrm>
            <a:custGeom>
              <a:avLst/>
              <a:gdLst/>
              <a:ahLst/>
              <a:cxnLst/>
              <a:rect r="r" b="b" t="t" l="l"/>
              <a:pathLst>
                <a:path h="2776220" w="2776855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387472" y="1766780"/>
            <a:ext cx="1127671" cy="1298042"/>
          </a:xfrm>
          <a:custGeom>
            <a:avLst/>
            <a:gdLst/>
            <a:ahLst/>
            <a:cxnLst/>
            <a:rect r="r" b="b" t="t" l="l"/>
            <a:pathLst>
              <a:path h="1298042" w="1127671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47060">
            <a:off x="2314485" y="2790075"/>
            <a:ext cx="1781830" cy="0"/>
          </a:xfrm>
          <a:prstGeom prst="line">
            <a:avLst/>
          </a:prstGeom>
          <a:ln cap="rnd" w="28575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name="Group 5" id="5"/>
          <p:cNvGrpSpPr/>
          <p:nvPr/>
        </p:nvGrpSpPr>
        <p:grpSpPr>
          <a:xfrm rot="-448633">
            <a:off x="11828236" y="3807350"/>
            <a:ext cx="5436024" cy="5434834"/>
            <a:chOff x="0" y="0"/>
            <a:chExt cx="7248032" cy="72464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37200" y="2514124"/>
            <a:ext cx="5869750" cy="5126702"/>
          </a:xfrm>
          <a:custGeom>
            <a:avLst/>
            <a:gdLst/>
            <a:ahLst/>
            <a:cxnLst/>
            <a:rect r="r" b="b" t="t" l="l"/>
            <a:pathLst>
              <a:path h="5126702" w="5869750">
                <a:moveTo>
                  <a:pt x="0" y="0"/>
                </a:moveTo>
                <a:lnTo>
                  <a:pt x="5869750" y="0"/>
                </a:lnTo>
                <a:lnTo>
                  <a:pt x="5869750" y="5126702"/>
                </a:lnTo>
                <a:lnTo>
                  <a:pt x="0" y="5126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84500" y="3082050"/>
            <a:ext cx="4773896" cy="2736654"/>
          </a:xfrm>
          <a:custGeom>
            <a:avLst/>
            <a:gdLst/>
            <a:ahLst/>
            <a:cxnLst/>
            <a:rect r="r" b="b" t="t" l="l"/>
            <a:pathLst>
              <a:path h="2736654" w="4773896">
                <a:moveTo>
                  <a:pt x="0" y="0"/>
                </a:moveTo>
                <a:lnTo>
                  <a:pt x="4773896" y="0"/>
                </a:lnTo>
                <a:lnTo>
                  <a:pt x="4773896" y="2736654"/>
                </a:lnTo>
                <a:lnTo>
                  <a:pt x="0" y="27366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93" t="0" r="-1308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57492" y="5987274"/>
            <a:ext cx="5222842" cy="205500"/>
          </a:xfrm>
          <a:custGeom>
            <a:avLst/>
            <a:gdLst/>
            <a:ahLst/>
            <a:cxnLst/>
            <a:rect r="r" b="b" t="t" l="l"/>
            <a:pathLst>
              <a:path h="205500" w="5222842">
                <a:moveTo>
                  <a:pt x="0" y="0"/>
                </a:moveTo>
                <a:lnTo>
                  <a:pt x="5222842" y="0"/>
                </a:lnTo>
                <a:lnTo>
                  <a:pt x="5222842" y="205500"/>
                </a:lnTo>
                <a:lnTo>
                  <a:pt x="0" y="20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524347" y="2945088"/>
            <a:ext cx="5132301" cy="2873616"/>
          </a:xfrm>
          <a:custGeom>
            <a:avLst/>
            <a:gdLst/>
            <a:ahLst/>
            <a:cxnLst/>
            <a:rect r="r" b="b" t="t" l="l"/>
            <a:pathLst>
              <a:path h="2873616" w="5132301">
                <a:moveTo>
                  <a:pt x="0" y="0"/>
                </a:moveTo>
                <a:lnTo>
                  <a:pt x="5132302" y="0"/>
                </a:lnTo>
                <a:lnTo>
                  <a:pt x="5132302" y="2873616"/>
                </a:lnTo>
                <a:lnTo>
                  <a:pt x="0" y="2873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15300" y="4652602"/>
            <a:ext cx="5734950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1 - Backend Completo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2 - Integração CRUD administrativo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3 - Sistema de autenticação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4 - Dashboard para vendedor e administrador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93901" y="3081402"/>
            <a:ext cx="680129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Trabalhos Futuros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19934" y="5126199"/>
            <a:ext cx="5937671" cy="306905"/>
            <a:chOff x="0" y="0"/>
            <a:chExt cx="7470592" cy="3861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0649" cy="386080"/>
            </a:xfrm>
            <a:custGeom>
              <a:avLst/>
              <a:gdLst/>
              <a:ahLst/>
              <a:cxnLst/>
              <a:rect r="r" b="b" t="t" l="l"/>
              <a:pathLst>
                <a:path h="386080" w="7470649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519934" y="4451947"/>
            <a:ext cx="9377252" cy="132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7"/>
              </a:lnSpc>
            </a:pPr>
            <a:r>
              <a:rPr lang="en-US" sz="123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Protótipo</a:t>
            </a:r>
          </a:p>
        </p:txBody>
      </p:sp>
      <p:grpSp>
        <p:nvGrpSpPr>
          <p:cNvPr name="Group 7" id="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369725" y="515562"/>
            <a:ext cx="4069614" cy="404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07775" y="7280026"/>
            <a:ext cx="739874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 ideia ao vi</a:t>
            </a: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sual: experimentando o sistema pela primeira vez</a:t>
            </a:r>
          </a:p>
        </p:txBody>
      </p:sp>
      <p:sp>
        <p:nvSpPr>
          <p:cNvPr name="AutoShape 11" id="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cap="rnd" w="57150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912400" y="1374798"/>
            <a:ext cx="2082600" cy="2082000"/>
            <a:chOff x="0" y="0"/>
            <a:chExt cx="2776800" cy="277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76855" cy="2776220"/>
            </a:xfrm>
            <a:custGeom>
              <a:avLst/>
              <a:gdLst/>
              <a:ahLst/>
              <a:cxnLst/>
              <a:rect r="r" b="b" t="t" l="l"/>
              <a:pathLst>
                <a:path h="2776220" w="2776855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387472" y="1766780"/>
            <a:ext cx="1127671" cy="1298042"/>
          </a:xfrm>
          <a:custGeom>
            <a:avLst/>
            <a:gdLst/>
            <a:ahLst/>
            <a:cxnLst/>
            <a:rect r="r" b="b" t="t" l="l"/>
            <a:pathLst>
              <a:path h="1298042" w="1127671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name="AutoShape 6" id="6"/>
          <p:cNvSpPr/>
          <p:nvPr/>
        </p:nvSpPr>
        <p:spPr>
          <a:xfrm rot="157789">
            <a:off x="1602525" y="1887825"/>
            <a:ext cx="1660749" cy="0"/>
          </a:xfrm>
          <a:prstGeom prst="line">
            <a:avLst/>
          </a:prstGeom>
          <a:ln cap="rnd" w="28575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-448633">
            <a:off x="4318136" y="6194650"/>
            <a:ext cx="5436024" cy="5434834"/>
            <a:chOff x="0" y="0"/>
            <a:chExt cx="7248032" cy="7246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name="AutoShape 9" id="9"/>
          <p:cNvSpPr/>
          <p:nvPr/>
        </p:nvSpPr>
        <p:spPr>
          <a:xfrm rot="157789">
            <a:off x="1602525" y="1887825"/>
            <a:ext cx="1660749" cy="0"/>
          </a:xfrm>
          <a:prstGeom prst="line">
            <a:avLst/>
          </a:prstGeom>
          <a:ln cap="rnd" w="28575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547676" y="1198598"/>
            <a:ext cx="2082600" cy="2082000"/>
            <a:chOff x="0" y="0"/>
            <a:chExt cx="2776800" cy="277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76855" cy="2776220"/>
            </a:xfrm>
            <a:custGeom>
              <a:avLst/>
              <a:gdLst/>
              <a:ahLst/>
              <a:cxnLst/>
              <a:rect r="r" b="b" t="t" l="l"/>
              <a:pathLst>
                <a:path h="2776220" w="2776855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067118" y="1712022"/>
            <a:ext cx="1083379" cy="996428"/>
          </a:xfrm>
          <a:custGeom>
            <a:avLst/>
            <a:gdLst/>
            <a:ahLst/>
            <a:cxnLst/>
            <a:rect r="r" b="b" t="t" l="l"/>
            <a:pathLst>
              <a:path h="996428" w="1083379">
                <a:moveTo>
                  <a:pt x="0" y="0"/>
                </a:moveTo>
                <a:lnTo>
                  <a:pt x="1083380" y="0"/>
                </a:lnTo>
                <a:lnTo>
                  <a:pt x="1083380" y="996428"/>
                </a:lnTo>
                <a:lnTo>
                  <a:pt x="0" y="9964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682842" y="3280598"/>
            <a:ext cx="4746982" cy="4746982"/>
          </a:xfrm>
          <a:custGeom>
            <a:avLst/>
            <a:gdLst/>
            <a:ahLst/>
            <a:cxnLst/>
            <a:rect r="r" b="b" t="t" l="l"/>
            <a:pathLst>
              <a:path h="4746982" w="4746982">
                <a:moveTo>
                  <a:pt x="0" y="0"/>
                </a:moveTo>
                <a:lnTo>
                  <a:pt x="4746981" y="0"/>
                </a:lnTo>
                <a:lnTo>
                  <a:pt x="4746981" y="4746982"/>
                </a:lnTo>
                <a:lnTo>
                  <a:pt x="0" y="47469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55875" y="1151375"/>
            <a:ext cx="34883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Protótipo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12002" y="4637009"/>
            <a:ext cx="8647298" cy="197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5"/>
              </a:lnSpc>
            </a:pPr>
            <a:r>
              <a:rPr lang="en-US" sz="6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https://joaoribeiro-v.github.io/ShopUp/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48633">
            <a:off x="11486086" y="6499750"/>
            <a:ext cx="5436024" cy="5434834"/>
            <a:chOff x="0" y="0"/>
            <a:chExt cx="7248032" cy="72464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48017" cy="7246493"/>
            </a:xfrm>
            <a:custGeom>
              <a:avLst/>
              <a:gdLst/>
              <a:ahLst/>
              <a:cxnLst/>
              <a:rect r="r" b="b" t="t" l="l"/>
              <a:pathLst>
                <a:path h="7246493" w="7248017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04600" cy="10287000"/>
            <a:chOff x="0" y="0"/>
            <a:chExt cx="6728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28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385825" y="4070842"/>
            <a:ext cx="7516350" cy="1451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19"/>
              </a:lnSpc>
            </a:pPr>
            <a:r>
              <a:rPr lang="en-US" sz="134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Obrigado!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85825" y="5522438"/>
            <a:ext cx="75163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Alguém tem alguma dúvida?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484976" y="1531948"/>
            <a:ext cx="2082600" cy="2082000"/>
            <a:chOff x="0" y="0"/>
            <a:chExt cx="2776800" cy="277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76855" cy="2776220"/>
            </a:xfrm>
            <a:custGeom>
              <a:avLst/>
              <a:gdLst/>
              <a:ahLst/>
              <a:cxnLst/>
              <a:rect r="r" b="b" t="t" l="l"/>
              <a:pathLst>
                <a:path h="2776220" w="2776855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015862" y="2057630"/>
            <a:ext cx="1137948" cy="1000018"/>
          </a:xfrm>
          <a:custGeom>
            <a:avLst/>
            <a:gdLst/>
            <a:ahLst/>
            <a:cxnLst/>
            <a:rect r="r" b="b" t="t" l="l"/>
            <a:pathLst>
              <a:path h="1000018" w="1137948">
                <a:moveTo>
                  <a:pt x="0" y="0"/>
                </a:moveTo>
                <a:lnTo>
                  <a:pt x="1137949" y="0"/>
                </a:lnTo>
                <a:lnTo>
                  <a:pt x="1137949" y="1000018"/>
                </a:lnTo>
                <a:lnTo>
                  <a:pt x="0" y="10000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rot="228784">
            <a:off x="1610163" y="3992875"/>
            <a:ext cx="2291673" cy="0"/>
          </a:xfrm>
          <a:prstGeom prst="line">
            <a:avLst/>
          </a:prstGeom>
          <a:ln cap="rnd" w="57150">
            <a:solidFill>
              <a:srgbClr val="ED7A0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DAG5-y-ATIo</dc:identifier>
  <dcterms:modified xsi:type="dcterms:W3CDTF">2011-08-01T06:04:30Z</dcterms:modified>
  <cp:revision>1</cp:revision>
  <dc:title>slides-shopup</dc:title>
</cp:coreProperties>
</file>